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7293"/>
                </a:solidFill>
                <a:latin typeface="Malgun Gothic"/>
              </a:rPr>
              <a:t>SEOBAKSA NUTRITION  |  WEEKLY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0" b="0">
                <a:solidFill>
                  <a:srgbClr val="FFFFFF"/>
                </a:solidFill>
                <a:latin typeface="Malgun Gothic"/>
              </a:rPr>
              <a:t>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FFFFF"/>
                </a:solidFill>
                <a:latin typeface="Malgun Gothic"/>
              </a:rPr>
              <a:t>전 세계 76%가</a:t>
            </a:r>
          </a:p>
          <a:p>
            <a:pPr algn="l">
              <a:lnSpc>
                <a:spcPct val="115000"/>
              </a:lnSpc>
            </a:pPr>
            <a:r>
              <a:rPr sz="5600" b="1">
                <a:solidFill>
                  <a:srgbClr val="FFFFFF"/>
                </a:solidFill>
                <a:latin typeface="Malgun Gothic"/>
              </a:rPr>
              <a:t>오메가-3 부족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046720"/>
            <a:ext cx="7680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>
                <a:solidFill>
                  <a:srgbClr val="1C7293"/>
                </a:solidFill>
                <a:latin typeface="Malgun Gothic"/>
              </a:rPr>
              <a:t>그럼, 한국인은 어떨까?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966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Malgun Gothic"/>
              </a:rPr>
              <a:t>밀어서 자세히 보기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01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C7293"/>
                </a:solidFill>
                <a:latin typeface="Malgun Gothic"/>
              </a:rPr>
              <a:t>최신 글로벌 리뷰 연구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8000" b="1">
                <a:solidFill>
                  <a:srgbClr val="065A82"/>
                </a:solidFill>
                <a:latin typeface="Malgun Gothic"/>
              </a:rPr>
              <a:t>76%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0"/>
            <a:ext cx="7680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800" b="0">
                <a:solidFill>
                  <a:srgbClr val="1A2238"/>
                </a:solidFill>
                <a:latin typeface="Malgun Gothic"/>
              </a:rPr>
              <a:t>전 세계 인구의 76%가</a:t>
            </a:r>
          </a:p>
          <a:p>
            <a:pPr algn="l">
              <a:lnSpc>
                <a:spcPct val="140000"/>
              </a:lnSpc>
            </a:pPr>
            <a:r>
              <a:rPr sz="2800" b="0">
                <a:solidFill>
                  <a:srgbClr val="1A2238"/>
                </a:solidFill>
                <a:latin typeface="Malgun Gothic"/>
              </a:rPr>
              <a:t>EPA·DHA 권장 섭취량에 미달.</a:t>
            </a:r>
          </a:p>
          <a:p>
            <a:pPr algn="l">
              <a:lnSpc>
                <a:spcPct val="140000"/>
              </a:lnSpc>
            </a:pPr>
            <a:r>
              <a:rPr sz="2800" b="0">
                <a:solidFill>
                  <a:srgbClr val="1A2238"/>
                </a:solidFill>
                <a:latin typeface="Malgun Gothic"/>
              </a:rPr>
              <a:t>오메가-3 부족은 이제 일부 국가의 문제가 아닙니다.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C7A93"/>
                </a:solidFill>
                <a:latin typeface="Malgun Gothic"/>
              </a:rPr>
              <a:t>02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C7A93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C7293"/>
                </a:solidFill>
                <a:latin typeface="Malgun Gothic"/>
              </a:rPr>
              <a:t>한국인의 현실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65A82"/>
                </a:solidFill>
                <a:latin typeface="Malgun Gothic"/>
              </a:rPr>
              <a:t>생선 많이 먹는 나라?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065A82"/>
                </a:solidFill>
                <a:latin typeface="Malgun Gothic"/>
              </a:rPr>
              <a:t>옛날 얘기입니다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>국민건강영양조사에 따르면, 최근 수십 년간 한국인의 어류 섭취량은 꾸준히 감소해 왔습니다.</a:t>
            </a:r>
          </a:p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>특히 20·30대 이하 청년층과 어린이·청소년의 생선 섭취량이 크게 줄었습니다.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C7A93"/>
                </a:solidFill>
                <a:latin typeface="Malgun Gothic"/>
              </a:rPr>
              <a:t>03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C7A93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C7293"/>
                </a:solidFill>
                <a:latin typeface="Malgun Gothic"/>
              </a:rPr>
              <a:t>왜 부족해진 걸까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65A82"/>
                </a:solidFill>
                <a:latin typeface="Malgun Gothic"/>
              </a:rPr>
              <a:t>전 세계적 원인 3가지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457200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0916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2238"/>
                </a:solidFill>
                <a:latin typeface="Malgun Gothic"/>
              </a:rPr>
              <a:t>도시화·서구식 식단 확산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566928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80644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2238"/>
                </a:solidFill>
                <a:latin typeface="Malgun Gothic"/>
              </a:rPr>
              <a:t>해양 오염 우려로 생선 기피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676656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90372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2238"/>
                </a:solidFill>
                <a:latin typeface="Malgun Gothic"/>
              </a:rPr>
              <a:t>지속가능성 이슈로 어류 소비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C7A93"/>
                </a:solidFill>
                <a:latin typeface="Malgun Gothic"/>
              </a:rPr>
              <a:t>04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C7A93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C7293"/>
                </a:solidFill>
                <a:latin typeface="Malgun Gothic"/>
              </a:rPr>
              <a:t>충격적인 사실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65A82"/>
                </a:solidFill>
                <a:latin typeface="Malgun Gothic"/>
              </a:rPr>
              <a:t>보충제도 믿을 수만은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>소비자 리포트 조사 결과, 시중 일부 어유 제품은 라벨에 표시된 EPA·DHA 함량보다 실제 함량이 낮거나, 산패(rancidity) 징후를 보였습니다.</a:t>
            </a:r>
          </a:p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>이제는 '오메가-3를 먹느냐'가 아니라, '어떤 오메가-3를 고르느냐'가 핵심입니다.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C7A93"/>
                </a:solidFill>
                <a:latin typeface="Malgun Gothic"/>
              </a:rPr>
              <a:t>05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C7A93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C7293"/>
                </a:solidFill>
                <a:latin typeface="Malgun Gothic"/>
              </a:rPr>
              <a:t>좋은 제품 고르는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65A82"/>
                </a:solidFill>
                <a:latin typeface="Malgun Gothic"/>
              </a:rPr>
              <a:t>체크리스트 4가지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457200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0916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2238"/>
                </a:solidFill>
                <a:latin typeface="Malgun Gothic"/>
              </a:rPr>
              <a:t>EPA + DHA 합산 함량 확인 (500~2,000mg)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566928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80644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2238"/>
                </a:solidFill>
                <a:latin typeface="Malgun Gothic"/>
              </a:rPr>
              <a:t>산패도·제3자 인증 (IFOS, GOED)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676656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90372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2238"/>
                </a:solidFill>
                <a:latin typeface="Malgun Gothic"/>
              </a:rPr>
              <a:t>원료 투명성 (어종·어장·추출 방식)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786384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80010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2238"/>
                </a:solidFill>
                <a:latin typeface="Malgun Gothic"/>
              </a:rPr>
              <a:t>빛 차단 포장 + 냉장 보관 여부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C7A93"/>
                </a:solidFill>
                <a:latin typeface="Malgun Gothic"/>
              </a:rPr>
              <a:t>06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C7A93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C7293"/>
                </a:solidFill>
                <a:latin typeface="Malgun Gothic"/>
              </a:rPr>
              <a:t>일상에서 할 수 있는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65A82"/>
                </a:solidFill>
                <a:latin typeface="Malgun Gothic"/>
              </a:rPr>
              <a:t>주 2회, 등푸른 생선부터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>고등어, 연어, 꽁치, 멸치 — 주 2회 이상 한 끼만이라도 챙기면 권장량의 상당 부분을 충족할 수 있습니다.</a:t>
            </a:r>
          </a:p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>호두·치아씨·아마씨의 식물성 ALA는 보조로 좋지만, 체내에서 EPA·DHA로의 전환율이 낮아 생선을 완전히 대체하기는 어렵습니다.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C7A93"/>
                </a:solidFill>
                <a:latin typeface="Malgun Gothic"/>
              </a:rPr>
              <a:t>07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C7A93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1430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C7293"/>
                </a:solidFill>
                <a:latin typeface="Malgun Gothic"/>
              </a:rPr>
              <a:t>주의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65A82"/>
                </a:solidFill>
                <a:latin typeface="Malgun Gothic"/>
              </a:rPr>
              <a:t>이런 분들은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065A82"/>
                </a:solidFill>
                <a:latin typeface="Malgun Gothic"/>
              </a:rPr>
              <a:t>반드시 전문가와 상의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>• 임신·수유 중이신 분</a:t>
            </a:r>
          </a:p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>• 항응고제 복용 중이신 분</a:t>
            </a:r>
          </a:p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>• 수술을 앞두고 계신 분</a:t>
            </a:r>
          </a:p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2400" b="0">
                <a:solidFill>
                  <a:srgbClr val="1A2238"/>
                </a:solidFill>
                <a:latin typeface="Malgun Gothic"/>
              </a:rPr>
              <a:t>위 경우에는 오메가-3 보충제 시작 전 담당 의사·약사와 상의하세요.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C7A93"/>
                </a:solidFill>
                <a:latin typeface="Malgun Gothic"/>
              </a:rPr>
              <a:t>08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C7A93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0" b="1">
                <a:solidFill>
                  <a:srgbClr val="1C7293"/>
                </a:solidFill>
                <a:latin typeface="Malgun Gothic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6809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>내 몸에 진짜 올리는 것,</a:t>
            </a:r>
          </a:p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>그것이 올바른 영양제의 시작입니다.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4183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C7293"/>
                </a:solidFill>
                <a:latin typeface="Malgun Gothic"/>
              </a:rPr>
              <a:t>— 서박사의 영양공식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09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98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Malgun Gothic"/>
              </a:rPr>
              <a:t>@서박사의영양공식  |  nutriformula.co.kr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C7293"/>
                </a:solidFill>
                <a:latin typeface="Malgun Gothic"/>
              </a:rPr>
              <a:t>MADE BY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931920"/>
            <a:ext cx="7680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>
                <a:solidFill>
                  <a:srgbClr val="FFFFFF"/>
                </a:solidFill>
                <a:latin typeface="Malgun Gothic"/>
              </a:rPr>
              <a:t>서박사의 영양공식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1C7293"/>
                </a:solidFill>
                <a:latin typeface="Malgun Gothic"/>
              </a:rPr>
              <a:t>3분 안에 찾는 나만의 맞춤 영양제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6766560"/>
            <a:ext cx="1828800" cy="365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7132320"/>
            <a:ext cx="7680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0">
                <a:solidFill>
                  <a:srgbClr val="FFFFFF"/>
                </a:solidFill>
                <a:latin typeface="Malgun Gothic"/>
              </a:rPr>
              <a:t>36가지 설문과 라이프스타일을 분석해</a:t>
            </a:r>
          </a:p>
          <a:p>
            <a:pPr algn="ctr">
              <a:lnSpc>
                <a:spcPct val="150000"/>
              </a:lnSpc>
            </a:pPr>
            <a:r>
              <a:rPr sz="2200" b="0">
                <a:solidFill>
                  <a:srgbClr val="FFFFFF"/>
                </a:solidFill>
                <a:latin typeface="Malgun Gothic"/>
              </a:rPr>
              <a:t>과학적 근거에 기반한 영양제를 추천합니다.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9144000"/>
            <a:ext cx="6400800" cy="109728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94183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21295C"/>
                </a:solidFill>
                <a:latin typeface="Malgun Gothic"/>
              </a:rPr>
              <a:t>프로필 링크에서 무료 분석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69848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nutriformula.co.kr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572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1C7293"/>
                </a:solidFill>
                <a:latin typeface="Malgun Gothic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