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97BC62"/>
                </a:solidFill>
                <a:latin typeface="Malgun Gothic"/>
              </a:rPr>
              <a:t>SEOBAKSA NUTRITION  |  WEEKLY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0" b="0">
                <a:solidFill>
                  <a:srgbClr val="FFFFFF"/>
                </a:solidFill>
                <a:latin typeface="Malgun Gothic"/>
              </a:rPr>
              <a:t>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FFFFF"/>
                </a:solidFill>
                <a:latin typeface="Malgun Gothic"/>
              </a:rPr>
              <a:t>마그네슘, 다 같은 게</a:t>
            </a:r>
          </a:p>
          <a:p>
            <a:pPr algn="l">
              <a:lnSpc>
                <a:spcPct val="115000"/>
              </a:lnSpc>
            </a:pPr>
            <a:r>
              <a:rPr sz="5600" b="1">
                <a:solidFill>
                  <a:srgbClr val="FFFFFF"/>
                </a:solidFill>
                <a:latin typeface="Malgun Gothic"/>
              </a:rPr>
              <a:t>아닙니다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046720"/>
            <a:ext cx="7680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>
                <a:solidFill>
                  <a:srgbClr val="97BC62"/>
                </a:solidFill>
                <a:latin typeface="Malgun Gothic"/>
              </a:rPr>
              <a:t>형태별로 효과가 완전히 다릅니다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966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algun Gothic"/>
              </a:rPr>
              <a:t>밀어서 자세히 보기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01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5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7BC62"/>
                </a:solidFill>
                <a:latin typeface="Malgun Gothic"/>
              </a:rPr>
              <a:t>필수 미네랄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8000" b="1">
                <a:solidFill>
                  <a:srgbClr val="2C5F2D"/>
                </a:solidFill>
                <a:latin typeface="Malgun Gothic"/>
              </a:rPr>
              <a:t>300+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43200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0" b="1">
                <a:solidFill>
                  <a:srgbClr val="97BC62"/>
                </a:solidFill>
                <a:latin typeface="Malgun Gothic"/>
              </a:rPr>
              <a:t>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858000"/>
            <a:ext cx="7680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0">
                <a:solidFill>
                  <a:srgbClr val="1A3C1B"/>
                </a:solidFill>
                <a:latin typeface="Malgun Gothic"/>
              </a:rPr>
              <a:t>마그네슘이 관여하는 체내 효소 반응 수.</a:t>
            </a:r>
          </a:p>
          <a:p>
            <a:pPr algn="l">
              <a:lnSpc>
                <a:spcPct val="140000"/>
              </a:lnSpc>
            </a:pPr>
            <a:r>
              <a:rPr sz="2800" b="0">
                <a:solidFill>
                  <a:srgbClr val="1A3C1B"/>
                </a:solidFill>
                <a:latin typeface="Malgun Gothic"/>
              </a:rPr>
              <a:t>근육 이완, 신경 전달, 에너지 생성, 수면 조절까지 — 거의 모든 곳에 쓰입니다.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B7F5E"/>
                </a:solidFill>
                <a:latin typeface="Malgun Gothic"/>
              </a:rPr>
              <a:t>02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F5E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5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7BC62"/>
                </a:solidFill>
                <a:latin typeface="Malgun Gothic"/>
              </a:rPr>
              <a:t>한국인의 현실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2C5F2D"/>
                </a:solidFill>
                <a:latin typeface="Malgun Gothic"/>
              </a:rPr>
              <a:t>대부분이 부족합니다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3C1B"/>
                </a:solidFill>
                <a:latin typeface="Malgun Gothic"/>
              </a:rPr>
              <a:t>한국인의 마그네슘 섭취량은 권장량 대비 부족한 경우가 많습니다. 스트레스, 가공식품 섭취, 토양의 미네랄 감소가 주요 원인입니다.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B7F5E"/>
                </a:solidFill>
                <a:latin typeface="Malgun Gothic"/>
              </a:rPr>
              <a:t>03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F5E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5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7BC62"/>
                </a:solidFill>
                <a:latin typeface="Malgun Gothic"/>
              </a:rPr>
              <a:t>형태별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2C5F2D"/>
                </a:solidFill>
                <a:latin typeface="Malgun Gothic"/>
              </a:rPr>
              <a:t>마그네슘 4가지 유형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457200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0916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3C1B"/>
                </a:solidFill>
                <a:latin typeface="Malgun Gothic"/>
              </a:rPr>
              <a:t>산화마그네슘(MgO) — 함량 높지만 흡수율 낮음, 변비 완화용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566928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80644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3C1B"/>
                </a:solidFill>
                <a:latin typeface="Malgun Gothic"/>
              </a:rPr>
              <a:t>구연산마그네슘 — 흡수율 좋고 일반 보충에 적합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676656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90372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3C1B"/>
                </a:solidFill>
                <a:latin typeface="Malgun Gothic"/>
              </a:rPr>
              <a:t>글리시네이트 — 흡수율 최고, 수면·이완에 도움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786384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80010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3C1B"/>
                </a:solidFill>
                <a:latin typeface="Malgun Gothic"/>
              </a:rPr>
              <a:t>트레오산 — 뇌 건강·인지 기능에 특화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B7F5E"/>
                </a:solidFill>
                <a:latin typeface="Malgun Gothic"/>
              </a:rPr>
              <a:t>04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F5E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5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7BC62"/>
                </a:solidFill>
                <a:latin typeface="Malgun Gothic"/>
              </a:rPr>
              <a:t>산화마그네슘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2C5F2D"/>
                </a:solidFill>
                <a:latin typeface="Malgun Gothic"/>
              </a:rPr>
              <a:t>함량은 높은데 흡수가 안 된다?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3C1B"/>
                </a:solidFill>
                <a:latin typeface="Malgun Gothic"/>
              </a:rPr>
              <a:t>산화마그네슘(MgO)은 마그네슘 함량이 60%로 가장 높지만, 실제 흡수율은 4%에 불과합니다. 변비 완화 목적이라면 적합하지만 일반 보충용으로는 비추천.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B7F5E"/>
                </a:solidFill>
                <a:latin typeface="Malgun Gothic"/>
              </a:rPr>
              <a:t>05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F5E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5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7BC62"/>
                </a:solidFill>
                <a:latin typeface="Malgun Gothic"/>
              </a:rPr>
              <a:t>글리시네이트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2C5F2D"/>
                </a:solidFill>
                <a:latin typeface="Malgun Gothic"/>
              </a:rPr>
              <a:t>수면이 고민이라면 이것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3C1B"/>
                </a:solidFill>
                <a:latin typeface="Malgun Gothic"/>
              </a:rPr>
              <a:t>마그네슘 글리시네이트는 아미노산(글리신)과 결합된 형태로 흡수율이 가장 높습니다. 글리신 자체가 진정 효과가 있어 수면의 질 개선에 도움을 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B7F5E"/>
                </a:solidFill>
                <a:latin typeface="Malgun Gothic"/>
              </a:rPr>
              <a:t>06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F5E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0" b="1">
                <a:solidFill>
                  <a:srgbClr val="97BC62"/>
                </a:solidFill>
                <a:latin typeface="Malgun Gothic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6809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>에너지 이용에 필요</a:t>
            </a:r>
          </a:p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>정상적인 세포 분열에 필요</a:t>
            </a:r>
          </a:p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>— 식품의약품안전처 고시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4183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7BC62"/>
                </a:solidFill>
                <a:latin typeface="Malgun Gothic"/>
              </a:rPr>
              <a:t>— 식약처 인정 기능성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5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7BC62"/>
                </a:solidFill>
                <a:latin typeface="Malgun Gothic"/>
              </a:rPr>
              <a:t>일일 섭취량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2C5F2D"/>
                </a:solidFill>
                <a:latin typeface="Malgun Gothic"/>
              </a:rPr>
              <a:t>하루 220~350mg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3C1B"/>
                </a:solidFill>
                <a:latin typeface="Malgun Gothic"/>
              </a:rPr>
              <a:t>식약처 권장 일일 섭취량입니다. 과다 섭취 시 설사가 올 수 있으니, 자신의 필요에 맞는 형태와 용량을 선택하는 것이 중요합니다.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B7F5E"/>
                </a:solidFill>
                <a:latin typeface="Malgun Gothic"/>
              </a:rPr>
              <a:t>08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F5E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5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7BC62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2C5F2D"/>
                </a:solidFill>
                <a:latin typeface="Malgun Gothic"/>
              </a:rPr>
              <a:t>나에게 맞는 마그네슘 고르기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457200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0916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3C1B"/>
                </a:solidFill>
                <a:latin typeface="Malgun Gothic"/>
              </a:rPr>
              <a:t>변비 해소가 목적 → 산화마그네슘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566928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80644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3C1B"/>
                </a:solidFill>
                <a:latin typeface="Malgun Gothic"/>
              </a:rPr>
              <a:t>일반적인 보충 → 구연산마그네슘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676656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90372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3C1B"/>
                </a:solidFill>
                <a:latin typeface="Malgun Gothic"/>
              </a:rPr>
              <a:t>수면·스트레스 → 글리시네이트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786384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80010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3C1B"/>
                </a:solidFill>
                <a:latin typeface="Malgun Gothic"/>
              </a:rPr>
              <a:t>집중력·뇌 건강 → 트레오산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B7F5E"/>
                </a:solidFill>
                <a:latin typeface="Malgun Gothic"/>
              </a:rPr>
              <a:t>09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F5E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1A3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97BC62"/>
                </a:solidFill>
                <a:latin typeface="Malgun Gothic"/>
              </a:rPr>
              <a:t>MADE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>
                <a:solidFill>
                  <a:srgbClr val="FFFFFF"/>
                </a:solidFill>
                <a:latin typeface="Malgun Gothic"/>
              </a:rPr>
              <a:t>서박사의 영양공식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97BC62"/>
                </a:solidFill>
                <a:latin typeface="Malgun Gothic"/>
              </a:rPr>
              <a:t>3분 안에 찾는 나만의 맞춤 영양제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6766560"/>
            <a:ext cx="1828800" cy="36576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7132320"/>
            <a:ext cx="7680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0">
                <a:solidFill>
                  <a:srgbClr val="FFFFFF"/>
                </a:solidFill>
                <a:latin typeface="Malgun Gothic"/>
              </a:rPr>
              <a:t>36가지 설문과 라이프스타일을 분석해</a:t>
            </a:r>
          </a:p>
          <a:p>
            <a:pPr algn="ctr">
              <a:lnSpc>
                <a:spcPct val="150000"/>
              </a:lnSpc>
            </a:pPr>
            <a:r>
              <a:rPr sz="2200" b="0">
                <a:solidFill>
                  <a:srgbClr val="FFFFFF"/>
                </a:solidFill>
                <a:latin typeface="Malgun Gothic"/>
              </a:rPr>
              <a:t>과학적 근거에 기반한 영양제를 추천합니다.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9144000"/>
            <a:ext cx="6400800" cy="109728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94183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1A3C1B"/>
                </a:solidFill>
                <a:latin typeface="Malgun Gothic"/>
              </a:rPr>
              <a:t>프로필 링크에서 무료 분석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069848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nutriformula.co.kr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97BC62"/>
                </a:solidFill>
                <a:latin typeface="Malgun Gothic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