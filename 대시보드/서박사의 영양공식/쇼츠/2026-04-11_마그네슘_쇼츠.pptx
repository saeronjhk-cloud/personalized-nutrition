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0" cy="18288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SEOBAKSA NUTRITION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0" b="0">
                <a:solidFill>
                  <a:srgbClr val="FFFFFF"/>
                </a:solidFill>
                <a:latin typeface="Malgun Gothic"/>
              </a:rPr>
              <a:t>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486400"/>
            <a:ext cx="71323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Malgun Gothic"/>
              </a:rPr>
              <a:t>마그네슘,</a:t>
            </a:r>
          </a:p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Malgun Gothic"/>
              </a:rPr>
              <a:t>다 같은 거</a:t>
            </a:r>
          </a:p>
          <a:p>
            <a:pPr algn="l">
              <a:lnSpc>
                <a:spcPct val="115000"/>
              </a:lnSpc>
            </a:pPr>
            <a:r>
              <a:rPr sz="6400" b="1">
                <a:solidFill>
                  <a:srgbClr val="FFFFFF"/>
                </a:solidFill>
                <a:latin typeface="Malgun Gothic"/>
              </a:rPr>
              <a:t>아닙니다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>
                <a:solidFill>
                  <a:srgbClr val="97BC62"/>
                </a:solidFill>
                <a:latin typeface="Malgun Gothic"/>
              </a:rPr>
              <a:t>형태에 따라 효과가 완전히 다릅니다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46304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97BC62"/>
                </a:solidFill>
                <a:latin typeface="Malgun Gothic"/>
              </a:rPr>
              <a:t>필수 미네랄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68580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0000" b="1">
                <a:solidFill>
                  <a:srgbClr val="2C5F2D"/>
                </a:solidFill>
                <a:latin typeface="Malgun Gothic"/>
              </a:rPr>
              <a:t>300+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97BC62"/>
                </a:solidFill>
                <a:latin typeface="Malgun Gothic"/>
              </a:rPr>
              <a:t>가지 효소 반응에 관여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9144000"/>
            <a:ext cx="6858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0">
                <a:solidFill>
                  <a:srgbClr val="1A3C1B"/>
                </a:solidFill>
                <a:latin typeface="Malgun Gothic"/>
              </a:rPr>
              <a:t>마그네슘은 근육 이완, 신경 전달,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A3C1B"/>
                </a:solidFill>
                <a:latin typeface="Malgun Gothic"/>
              </a:rPr>
              <a:t>에너지 생성, 수면 조절까지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A3C1B"/>
                </a:solidFill>
                <a:latin typeface="Malgun Gothic"/>
              </a:rPr>
              <a:t>거의 모든 곳에 쓰입니다.</a:t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A3C1B"/>
                </a:solidFill>
                <a:latin typeface="Malgun Gothic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2600" b="0">
                <a:solidFill>
                  <a:srgbClr val="1A3C1B"/>
                </a:solidFill>
                <a:latin typeface="Malgun Gothic"/>
              </a:rPr>
              <a:t>한국인 대부분 섭취량이 부족합니다.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46304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97BC62"/>
                </a:solidFill>
                <a:latin typeface="Malgun Gothic"/>
              </a:rPr>
              <a:t>흡수율이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>
                <a:solidFill>
                  <a:srgbClr val="2C5F2D"/>
                </a:solidFill>
                <a:latin typeface="Malgun Gothic"/>
              </a:rPr>
              <a:t>산화 vs 구연산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6766560" cy="3200400"/>
          </a:xfrm>
          <a:prstGeom prst="roundRect">
            <a:avLst>
              <a:gd name="adj" fmla="val 8000"/>
            </a:avLst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3C1B"/>
                </a:solidFill>
                <a:latin typeface="Malgun Gothic"/>
              </a:rPr>
              <a:t>산화마그네슘 (MgO)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함량 높음 (60%)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흡수율 매우 낮음 (4%)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→ 변비 완화 목적이라면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8686800"/>
            <a:ext cx="6766560" cy="3200400"/>
          </a:xfrm>
          <a:prstGeom prst="roundRect">
            <a:avLst>
              <a:gd name="adj" fmla="val 8000"/>
            </a:avLst>
          </a:prstGeom>
          <a:solidFill>
            <a:srgbClr val="D4E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89611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3C1B"/>
                </a:solidFill>
                <a:latin typeface="Malgun Gothic"/>
              </a:rPr>
              <a:t>구연산마그네슘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969264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흡수율 좋음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가격 합리적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→ 일반 보충에 가장 적합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F5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1463040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97BC62"/>
                </a:solidFill>
                <a:latin typeface="Malgun Gothic"/>
              </a:rPr>
              <a:t>목적별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2C5F2D"/>
                </a:solidFill>
                <a:latin typeface="Malgun Gothic"/>
              </a:rPr>
              <a:t>글리시네이트</a:t>
            </a:r>
          </a:p>
          <a:p>
            <a:pPr algn="l">
              <a:lnSpc>
                <a:spcPct val="115000"/>
              </a:lnSpc>
            </a:pPr>
            <a:r>
              <a:rPr sz="4800" b="1">
                <a:solidFill>
                  <a:srgbClr val="2C5F2D"/>
                </a:solidFill>
                <a:latin typeface="Malgun Gothic"/>
              </a:rPr>
              <a:t>vs 트레오산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6766560" cy="3200400"/>
          </a:xfrm>
          <a:prstGeom prst="roundRect">
            <a:avLst>
              <a:gd name="adj" fmla="val 8000"/>
            </a:avLst>
          </a:prstGeom>
          <a:solidFill>
            <a:srgbClr val="D4E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3C1B"/>
                </a:solidFill>
                <a:latin typeface="Malgun Gothic"/>
              </a:rPr>
              <a:t>글리시네이트 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03504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흡수율 가장 높음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글리신의 진정 효과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→ 수면·스트레스에 추천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8686800"/>
            <a:ext cx="6766560" cy="3200400"/>
          </a:xfrm>
          <a:prstGeom prst="roundRect">
            <a:avLst>
              <a:gd name="adj" fmla="val 8000"/>
            </a:avLst>
          </a:prstGeom>
          <a:solidFill>
            <a:srgbClr val="E8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896112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A3C1B"/>
                </a:solidFill>
                <a:latin typeface="Malgun Gothic"/>
              </a:rPr>
              <a:t>트레오산 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969264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뇌혈관장벽(BBB) 통과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인지 기능·기억력</a:t>
            </a:r>
          </a:p>
          <a:p>
            <a:pPr algn="l">
              <a:lnSpc>
                <a:spcPct val="150000"/>
              </a:lnSpc>
            </a:pPr>
            <a:r>
              <a:rPr sz="2200" b="0">
                <a:solidFill>
                  <a:srgbClr val="1A3C1B"/>
                </a:solidFill>
                <a:latin typeface="Malgun Gothic"/>
              </a:rPr>
              <a:t>→ 집중력·뇌 건강 목적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0" cy="18288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97BC62"/>
                </a:solidFill>
                <a:latin typeface="Malgun Gothic"/>
              </a:rPr>
              <a:t>한눈에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Malgun Gothic"/>
              </a:rPr>
              <a:t>목적별</a:t>
            </a:r>
          </a:p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Malgun Gothic"/>
              </a:rPr>
              <a:t>마그네슘 고르기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6766560" cy="13716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80644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1A3C1B"/>
                </a:solidFill>
                <a:latin typeface="Malgun Gothic"/>
              </a:rPr>
              <a:t>변비 해소 → 산화마그네슘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7315200"/>
            <a:ext cx="6766560" cy="13716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763524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1A3C1B"/>
                </a:solidFill>
                <a:latin typeface="Malgun Gothic"/>
              </a:rPr>
              <a:t>일반 보충 → 구연산마그네슘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9144000"/>
            <a:ext cx="6766560" cy="13716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946404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1A3C1B"/>
                </a:solidFill>
                <a:latin typeface="Malgun Gothic"/>
              </a:rPr>
              <a:t>수면·스트레스 → 글리시네이트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0972800"/>
            <a:ext cx="6766560" cy="13716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1292840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1A3C1B"/>
                </a:solidFill>
                <a:latin typeface="Malgun Gothic"/>
              </a:rPr>
              <a:t>집중력·뇌 건강 → 트레오산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1A3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0" cy="18288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97BC62"/>
                </a:solidFill>
                <a:latin typeface="Malgun Gothic"/>
              </a:rPr>
              <a:t>MADE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7132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FFFFFF"/>
                </a:solidFill>
                <a:latin typeface="Malgun Gothic"/>
              </a:rPr>
              <a:t>서박사의 영양공식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0">
                <a:solidFill>
                  <a:srgbClr val="97BC62"/>
                </a:solidFill>
                <a:latin typeface="Malgun Gothic"/>
              </a:rPr>
              <a:t>3분 안에 찾는 나만의 맞춤 영양제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7498079"/>
            <a:ext cx="1828800" cy="45720"/>
          </a:xfrm>
          <a:prstGeom prst="rect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229600"/>
            <a:ext cx="7132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0">
                <a:solidFill>
                  <a:srgbClr val="FFFFFF"/>
                </a:solidFill>
                <a:latin typeface="Malgun Gothic"/>
              </a:rPr>
              <a:t>36가지 설문과 라이프스타일을 분석해</a:t>
            </a:r>
          </a:p>
          <a:p>
            <a:pPr algn="ctr">
              <a:lnSpc>
                <a:spcPct val="150000"/>
              </a:lnSpc>
            </a:pPr>
            <a:r>
              <a:rPr sz="2400" b="0">
                <a:solidFill>
                  <a:srgbClr val="FFFFFF"/>
                </a:solidFill>
                <a:latin typeface="Malgun Gothic"/>
              </a:rPr>
              <a:t>과학적 근거에 기반한 영양제를</a:t>
            </a:r>
          </a:p>
          <a:p>
            <a:pPr algn="ctr">
              <a:lnSpc>
                <a:spcPct val="150000"/>
              </a:lnSpc>
            </a:pPr>
            <a:r>
              <a:rPr sz="2400" b="0">
                <a:solidFill>
                  <a:srgbClr val="FFFFFF"/>
                </a:solidFill>
                <a:latin typeface="Malgun Gothic"/>
              </a:rPr>
              <a:t>추천합니다.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0972800"/>
            <a:ext cx="5486400" cy="118872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1A3C1B"/>
                </a:solidFill>
                <a:latin typeface="Malgun Gothic"/>
              </a:rPr>
              <a:t>프로필 링크에서 무료 분석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FFFFFF"/>
                </a:solidFill>
                <a:latin typeface="Malgun Gothic"/>
              </a:rPr>
              <a:t>nutriformula.co.kr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